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P01 · Unidad 1: Mercado, bolsa y acciones</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L01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0:16 + int. 0:00 = total 0:16</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Abrir la unidad y ubicar al estudiante en el propósito general.</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Antetítulo: Introducción a la inversión en acciones Entradilla: Aprende el contexto básico del mercado accionario, qué es una acción, cómo se generan valorización y dividendos, y qué perfil de riesgo debes reconocer antes de invertir. Botón: Comenzar</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Te damos la bienvenida a la primera unidad. Antes de comprar una acción, necesitas entender el mercado en el que estás entrando, qué derechos obtienes y por qué toda inversión exige información, criterio y control del riesgo. [0:16]</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Abrir la unidad y ubicar al estudiante en el propósito general.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P01</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P02 · Objetivos de aprendizaje</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L04 / motion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0:18 + int. 0:00 = total 0:18</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Presentar objetivos medibles de aprendizaje.</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Al finalizar esta unidad podrás: 1. Diferenciar renta variable, renta fija y derivados. 2. Explicar qué es una acción y qué derechos puede otorgar. 3. Calcular valorización y dividendo por acción en casos sencillos. 4. Comparar acciones ordinarias y preferenciales. 5. Reconocer tu punto de partida frente al riesgo.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En esta unidad construirás una base práctica. Primero ubicarás las acciones dentro del mercado de capitales. Luego aprenderás qué significa ser accionista, cómo se gana o se pierde dinero por precio y dividendos, y qué preguntas debes hacerte antes de invertir. [0:18]</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Motion corto de 25–35 segundos; mostrar transición conceptual con números y etiquetas exactas del texto en pantalla.</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 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P02</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P03 · Invertir empieza por cambiar la forma de ahorrar</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L12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0:27 + int. 0:00 = total 0:27</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 SRC-WB-FINDEX</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Activar interés con un dato verificable sobre ahorro formal.</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En 2024, solo 40% de los adultos en economías en desarrollo ahorró en una cuenta financiera. Atribución: World Bank Global Findex 2025.</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Invertir empieza por ordenar la forma de ahorrar. Según Global Findex, en dos mil veinticuatro solo cuatro de cada diez adultos en economías en desarrollo ahorraron en una cuenta financiera. Ese dato no significa que todos deban comprar acciones; significa que existe una oportunidad enorme para pasar de guardar dinero sin plan a construir hábitos financieros formales, con objetivos, información y control del riesgo. [0:27]</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simple con jerarquía: concepto principal, 2–4 bloques y nota educativa. No depender solo de color.</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P03</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P04 · Antes de empezar: mide tu punto de partida</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0:13 + int. 0:00 = total 0:13</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Preparar la prueba diagnóstica sin ansiedad evaluativa.</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Responde cinco preguntas rápidas. No tienen nota; sirven para que identifiques qué conceptos ya conoces y cuáles debes reforzar durante la unidad.</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Antes de entrar al contenido, responde una prueba diagnóstica. No busca calificarte. Su propósito es mostrarte qué tan familiarizado estás con conceptos como acción, dividendo, renta variable y tipos de acciones. [0:13]</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Preparar la prueba diagnóstica sin ansiedad evaluativa.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P04</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P05 · Diagnóstico 1</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I01</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diagnóstico</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0:25 = total 0:39</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Diagnosticar conocimientos previos sobre conceptos que se enseñarán en la unidad.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Una acción es un:</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Responde la primera pregunta. Una acción no es una promesa de pago como un bono. Es una participación mínima en una empresa, y por eso pertenece al mundo de los títulos participativos.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I01 | Enunciado: Una acción es un: | Opciones: A. Título participativo; B. Título de deuda; C. Cuenta de ahorro | Correcta: A | Retro correcta: Muy bien. Una acción representa una participación en la propiedad de una empresa. | Retro incorrecta: Recuerda que una acción no promete un interés fijo; representa una parte de una empresa.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P05</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P06 · Diagnóstico 2</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I02</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diagnóstico</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0:11 + int. 0:25 = total 0:36</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Diagnosticar conocimientos previos sobre conceptos que se enseñarán en la unidad.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Una acción preferencial normalmente no otorga voto en asamblea.</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Piensa en la diferencia entre derechos políticos y económicos. Una acción preferencial suele fortalecer los derechos económicos, pero normalmente limita o elimina el voto en asamblea. [0:11]</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I02 | Afirmación: Una acción preferencial normalmente no otorga voto en asamblea. | Respuesta: Verdadero | Retro correcta: Correcto. La preferencial suele priorizar derechos económicos y no el voto. | Retro incorrecta: Recuerda: la preferencial suele sacrificar voto a cambio de preferencias económicas.</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P06</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P07 · Diagnóstico 3</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I01</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diagnóstico</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0:25 = total 0:40</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Diagnosticar conocimientos previos sobre conceptos que se enseñarán en la unidad.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¿Cuál es la principal diferencia entre renta fija y renta variable?</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 tercera pregunta contrasta dos formas de invertir. En renta fija la rentabilidad pactada suele conocerse desde el inicio. En renta variable, el resultado depende del precio de venta y de los dividendos recibidos.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I01 | Opciones: A. La renta fija siempre gana más; B. En renta fija se conoce la rentabilidad pactada desde el inicio; C. La renta variable no tiene riesgo | Correcta: B | Retro correcta: Excelente. En renta variable no sabes de antemano cuánto ganarás o perderás. | Retro incorrecta: La clave es la certeza inicial: renta fija pacta condiciones; renta variable depende del mercado.</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P07</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P08 · Diagnóstico 4</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I02</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diagnóstico</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0:11 + int. 0:25 = total 0:36</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Diagnosticar conocimientos previos sobre conceptos que se enseñarán en la unidad.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Un dividendo permite recibir una porción de las utilidades distribuidas por la empresa.</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Esta pregunta revisa un derecho económico básico. El dividendo existe cuando la empresa obtiene utilidades y el órgano correspondiente decide repartir una parte entre los accionistas. [0:11]</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I02 | Afirmación: Un dividendo permite recibir una porción de las utilidades distribuidas por la empresa. | Respuesta: Verdadero | Retro correcta: Muy bien. El dividendo proviene de utilidades distribuidas. | Retro incorrecta: Recuerda que el dividendo es un pago al accionista cuando la empresa decide repartir utilidades.</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P08</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P09 · Diagnóstico 5</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I01</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diagnóstico</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0:13 + int. 0:25 = total 0:38</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Diagnosticar conocimientos previos sobre conceptos que se enseñarán en la unidad.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Para comprar acciones necesitas hacerlo mediante un intermediario o una plataforma autorizada.</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 última pregunta te recuerda que el acceso al mercado no ocurre de manera informal. Las órdenes se canalizan por entidades o plataformas autorizadas según las reglas de cada mercado. [0:13]</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I01 | Opciones: A. Verdadero; B. Falso; C. Solo si inviertes grandes montos | Correcta: A | Retro correcta: Correcto. Debes usar una entidad o plataforma autorizada. | Retro incorrecta: No se compra directamente “por fuera” del mercado; se usan intermediarios autorizados.</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P09</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P10 · Tu punto de partida</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L08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diagnóstico</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0:00 = total 0:14</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Interpretar el resultado diagnóstico como punto de partida.</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Si acertaste 0-2: empieza con calma y toma nota de los conceptos base. Si acertaste 3-4: tienes una buena base inicial. Si acertaste 5: aprovecha la unidad para ordenar y aplicar lo que ya sabes.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Tu resultado no te encasilla. Solo te ayuda a estudiar mejor. Si algunas respuestas no fueron correctas, perfecto: esta unidad está diseñada para explicar los conceptos desde cero y llevarlos a ejemplos prácticos.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Interpretar el resultado diagnóstico como punto de partida.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P10</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P11 · Las cuatro cápsulas de la unidad</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Apertura</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L05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0:00 = total 0:14</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Mostrar la ruta de microlearning de la unidad.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1. ¿En qué mercado estás entrando? 2. Qué es una acción 3. Valorización y dividendo 4. Ordinarias, preferenciales y tu perfil</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 unidad se divide en cuatro cápsulas cortas. Cada una inicia con una idea central, desarrolla un concepto aplicable y cierra con una interacción para que verifiques si puedes usar lo aprendido.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simple con jerarquía: concepto principal, 2–4 bloques y nota educativa. No depender solo de color.</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P11</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P12 · Cápsula 1: ¿En qué mercado estás entrando?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1</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OA1</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Abrir la cápsula 1 y presentar el mapa conceptual del mercado.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Primero ubicaremos las acciones dentro del mercado de capitales y diferenciaremos tres grandes familias: renta variable, renta fija y derivados.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Antes de hablar de acciones, necesitas ver el mapa general. En el mercado de capitales se negocian instrumentos que conectan a quienes necesitan financiación con quienes buscan invertir. Las acciones hacen parte de la renta variable.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Abrir la cápsula 1 y presentar el mapa conceptual del mercado.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P12</a:t>
            </a:r>
            <a:endParaRPr lang="en-US" sz="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P13 · Tres familias del mercado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1</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L05 / motion / I07</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OA1</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0:16 + int. 0:35 = total 0:51</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Comparar tres familias de instrumentos financieros.</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Renta variable: resultado no garantizado; depende del precio y dividendos. Renta fija: condiciones de pago pactadas desde el inicio. Derivados: contratos cuyo valor depende de otro activo.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 renta variable no ofrece una ganancia asegurada. La renta fija suele pactar condiciones desde el inicio. Los derivados son contratos más especializados cuyo valor depende de otro activo, como una acción, una moneda o una tasa. [0:16]</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Motion corto de 25–35 segundos; mostrar transición conceptual con números y etiquetas exactas del texto en pantalla.</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 texto alternativo/descripción equivalente; 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I07 | Tarjetas: Renta variable / Resultado no garantizado; Renta fija / Pagos o condiciones pactadas; Derivados / Contratos sobre otro activo | Retro general: Bien. Las acciones pertenecen a renta variable porque su rentabilidad no se conoce al comprar.</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P13</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P14 · Dónde encaja la inversión en acciones</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1</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L03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OA1</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0:16 + int. 0:00 = total 0:16</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Ubicar las acciones dentro de la renta variable.</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Las acciones son el instrumento característico de la renta variable. Puedes ganar por valorización o dividendos, pero también puedes perder si el precio baja o si la empresa no distribuye utilidades.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Invertir en acciones significa aceptar incertidumbre. Puedes beneficiarte si el precio sube o si la empresa distribuye dividendos, pero también puedes perder si el precio baja o si las condiciones de la empresa o del mercado se deterioran. [0:16]</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simple con jerarquía: concepto principal, 2–4 bloques y nota educativa. No depender solo de color.</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P14</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P15 · Comprobación cápsula 1</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1</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I01</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OA1</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0:25 = total 0:39</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Comprobar la diferencia clave de renta variable.</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¿Por qué las acciones pertenecen a renta variable?</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Cerramos la primera cápsula con una idea esencial: una acción no promete una rentabilidad fija. Su resultado depende del mercado, de la empresa y de la decisión de comprar, mantener o vender.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I01 | Opciones: A. Porque su precio y dividendos no están garantizados; B. Porque siempre pagan interés fijo; C. Porque solo se compran a corto plazo | Correcta: A | Retro correcta: Correcto. La rentabilidad de una acción se conoce realmente al vender y sumar dividendos recibidos. | Retro incorrecta: Recuerda: en acciones no hay interés fijo ni ganancia garantizada.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P15</a:t>
            </a:r>
            <a:endParaRPr lang="en-US" sz="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P16 · Cápsula 2: Qué es una acción</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2</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OA2</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0:00 = total 0:14</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Abrir la cápsula 2 y conectar acción con propiedad.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Ahora veremos por qué una acción te convierte en propietario de una fracción de una empresa y qué implica ser accionista.</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Una acción es un título participativo. Cuando compras una acción, compras una fracción muy pequeña de una empresa emisora. Esa participación puede darte derechos económicos y, según el tipo de acción, derechos políticos.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Abrir la cápsula 2 y conectar acción con propiedad.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P16</a:t>
            </a:r>
            <a:endParaRPr lang="en-US" sz="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P17 · Propiedad fraccionada</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2</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motion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OA2</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Explicar propiedad fraccionada mediante un ejemplo ficticio.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Ejemplo: si Andina Cementos emite 1.000.000 de acciones y tú compras 100, tienes una participación pequeña, pero real, en la compañía.</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Imagina que Andina Cementos está dividida en un millón de partes iguales llamadas acciones. Si compras cien, tu participación es pequeña, pero existe. Esa propiedad fraccionada es la base de los derechos del accionista.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Motion corto de 25–35 segundos; mostrar transición conceptual con números y etiquetas exactas del texto en pantalla.</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 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P17</a:t>
            </a:r>
            <a:endParaRPr lang="en-US" sz="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P18 · Tres ventajas de ser accionista</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2</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L05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OA2</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0:17 + int. 0:00 = total 0:17</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Sintetizar beneficios y riesgos asociados a ser accionista.</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1. Participar en valorizaciones si el precio sube. 2. Recibir dividendos cuando se reparten utilidades. 3. Acceder a derechos políticos en ciertos tipos de acciones.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Ser accionista puede darte tres beneficios. El primero es la valorización si vendes a un precio mayor. El segundo es el dividendo cuando se reparten utilidades. El tercero, en acciones con voto, es participar en ciertas decisiones de la empresa. [0:17]</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simple con jerarquía: concepto principal, 2–4 bloques y nota educativa. No depender solo de color.</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P18</a:t>
            </a:r>
            <a:endParaRPr lang="en-US" sz="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P19 · Comprobación cápsula 2</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2</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I02</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OA2</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0:25 = total 0:39</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Desmontar la idea de que el dividendo es garantizado.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Comprar una acción equivale a prestar dinero a una empresa con interés fijo.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Esta afirmación ayuda a separar acciones de deuda. En una acción no eres acreedor con interés fijo; eres propietario de una fracción y asumes el riesgo de la empresa y del mercado.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I02 | Afirmación: Comprar una acción equivale a prestar dinero a una empresa con interés fijo. | Respuesta: Falso | Retro correcta: Correcto. La acción es participación, no deuda con interés fijo. | Retro incorrecta: Recuerda: una acción te vuelve accionista; un bono se parece más a un préstamo.</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P19</a:t>
            </a:r>
            <a:endParaRPr lang="en-US" sz="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P20 · Cápsula 3: Valorización y dividendo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3</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OA3</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Abrir la cápsula 3 y preparar los cálculos prácticos.</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Esta cápsula explica las dos fuentes básicas de retorno en acciones: vender a mayor precio y recibir parte de utilidades distribuidas.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Ahora entraremos a la pieza más práctica de la unidad. Aprenderás a calcular una valorización simple y un dividendo por acción. Estos cálculos no predicen el futuro, pero ayudan a entender de dónde viene la rentabilidad.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Abrir la cápsula 3 y preparar los cálculos prácticos.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P20</a:t>
            </a:r>
            <a:endParaRPr lang="en-US" sz="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P21 · El caso Petrocaribe: de $1.000 a $1.500</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3</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motion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OA3</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Mostrar valorización y desvalorización con el caso Petrocaribe.</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Compras 500 acciones de Petrocaribe a $1.000 cada una. Ocho meses después, el precio sube a $1.500. La diferencia por acción es $500 y la valorización es 50%.</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Supongamos que compras acciones de Petrocaribe a mil pesos cada una. Más adelante, el precio sube a mil quinientos. La diferencia es quinientos por acción. Al dividir quinientos entre mil, la valorización es cincuenta por ciento.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MOTION 0:40: escena 1 compra 500 acciones Petrocaribe a $1.000; escena 2 precio sube a $1.500; escena 3 fórmula 50%; escena 4 precio baja a $800 y resultado -20%.</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 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P21</a:t>
            </a:r>
            <a:endParaRPr lang="en-US" sz="6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P22 · Calcula tú la valorización</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3</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L06 / ninguno / I10</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OA3</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0:45 = total 0:59</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Practicar el cálculo de valorización/desvalorización.</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Mueve el precio de compra y el precio de venta para ver cómo cambia la valorización.</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Ahora practica el cálculo. La fórmula es precio de venta menos precio de compra, dividido entre el precio de compra. Si el resultado es positivo, hay valorización. Si es negativo, hay desvalorización.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 "tipo": "I10 Calculadora paramétrica", "variables": [ { "id": "precio_compra", "nombre": "Precio de compra", "unidad": "$", "min": 1, "max": 10000, "paso": 10, "inicial": 1000, "decimales": 0 }, { "id": "precio_venta", "nombre": "Precio de venta", "unidad": "$", "min": 1, "max": 10000, "paso": 10, "inicial": 1500, "decimales": 0 }, { "id": "acciones", "nombre": "Número de acciones", "unidad": "acciones", "min": 1, "max": 10000, "paso": 1, "inicial": 500, "decimales": 0 } ], "formula": "Variación % = (Precio venta - Precio compra) / Precio compra; Resultado = (Precio venta - Precio compra) × Número de acciones", "resultados": [ "Monto invertido", "Diferencia por acción", "Variación porcentual", "Ganancia/pérdida por precio", "Monto final bruto" ], "validaciones": [ "precio_compra &gt; 0", "precio_venta &gt; 0", "acciones &gt; 0", "no permitir división por cero" ], "mensajes": { "positivo": "La acción se valorizó en el periodo del ejercicio.", "cero": "El precio no cambió; no hay ganancia ni pérdida por precio.", "negativo": "La acción se desvalorizó; el resultado por precio es negativo." }, "casos_prueba": [ { "input": "1000,1500,500", "resultado": "50%; $250.000" }, { "input": "1000,800,500", "resultado": "-20%; -$100.000" }, { "input": "1000,1000,500", "resultado": "0%; $0" } ] }</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P22</a:t>
            </a:r>
            <a:endParaRPr lang="en-US" sz="6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P23 · El dividendo: reparto de utilidades</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3</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motion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OA3</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0:16 + int. 0:00 = total 0:16</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Explicar cómo se calcula y decide un dividendo.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Banco del Sur genera utilidades. La asamblea decide qué porcentaje se reparte. El dividendo por acción se calcula dividiendo el monto a repartir entre el número de acciones.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El dividendo depende de utilidades y de la decisión de repartirlas. Si una empresa gana dinero, puede distribuir una parte entre sus accionistas. Pero también puede decidir repartir menos o no repartir, por ejemplo para fortalecer la operación. [0:16]</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MOTION 0:35: empresa genera utilidad; asamblea define porcentaje; monto a repartir se divide entre acciones; estudiante recibe según acciones que posee.</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 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P23</a:t>
            </a:r>
            <a:endParaRPr lang="en-US" sz="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P24 · Calcula el dividendo por acción</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3</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L06 / ninguno / I10</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OA3</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0:13 + int. 0:45 = total 0:58</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Practicar el cálculo de dividendo por acción.</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Ajusta utilidad neta, porcentaje a repartir y número de acciones. Observa el dividendo estimado por acción.</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Practica el segundo cálculo. Primero multiplicas la utilidad neta por el porcentaje que se repartirá. Luego divides ese monto entre el número de acciones. Así obtienes el dividendo por acción. [0:13]</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 "tipo": "I10 Calculadora paramétrica", "variables": [ { "id": "utilidad_neta", "nombre": "Utilidad neta", "unidad": "$", "min": 0, "max": 1000000000, "paso": 100000, "inicial": 20000000, "decimales": 0 }, { "id": "porcentaje_repartir", "nombre": "Porcentaje a repartir", "unidad": "%", "min": 0, "max": 100, "paso": 1, "inicial": 50, "decimales": 0 }, { "id": "acciones_totales", "nombre": "Acciones totales", "unidad": "acciones", "min": 1, "max": 10000000, "paso": 1, "inicial": 1500, "decimales": 0 }, { "id": "acciones_estudiante", "nombre": "Acciones que posees", "unidad": "acciones", "min": 0, "max": 1000000, "paso": 1, "inicial": 100, "decimales": 0 } ], "formula": "Monto a repartir = Utilidad neta × % a repartir; Dividendo por acción = Monto a repartir / Número total de acciones; Dividendo del estudiante = Dividendo por acción × Acciones que posee", "resultados": [ "Monto a repartir", "Dividendo por acción", "Dividendo estimado del estudiante" ], "validaciones": [ "acciones_totales &gt; 0", "0 &lt;= porcentaje_repartir &lt;= 100", "acciones_estudiante &gt;= 0" ], "mensajes": { "positivo": "El ejercicio genera dividendo estimado.", "cero": "No hay dividendo si la utilidad o el porcentaje a repartir es cero.", "negativo": "No aplica; los inputs válidos no deben producir dividendos negativos." }, "casos_prueba": [ { "input": "20.000.000,50%,1.500,100", "resultado": "$6.666,67 por acción; $666.666,67" }, { "input": "5.000.000,0%,1.500,100", "resultado": "$0" }, { "input": "40.000.000,30%,3.600,100", "resultado": "$3.333,33 por acción; $333.333,33" } ] }</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P24</a:t>
            </a:r>
            <a:endParaRPr lang="en-US" sz="6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P25 · Comprobación cápsula 3</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3</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I01</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OA3</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0:12 + int. 0:25 = total 0:37</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Comprobar la comprensión integrada de valorización y dividendos.</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Andina Cementos reparte $12.000.000 entre 3.000 acciones. ¿Cuál es el dividendo por acción?</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Para resolver, divide el monto total a repartir entre el número de acciones. Este cálculo permite estimar cuánto recibiría cada acción antes de considerar costos o impuestos aplicables. [0:12]</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I01 | Opciones: A. $4.000; B. $3.000; C. $36.000; D. $400 | Correcta: A | Retro correcta: Correcto. $12.000.000 dividido entre 3.000 acciones da $4.000 por acción. | Retro incorrecta: Revisa la fórmula: monto a repartir / número de acciones = dividendo por acción.</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P25</a:t>
            </a:r>
            <a:endParaRPr lang="en-US" sz="6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P26 · Cápsula 4: Tipos de acciones y perfil</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4</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OA4</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Abrir la cápsula 4 y vincular derechos con decisión de inversión.</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Ahora conectaremos los derechos de las acciones con tu perfil de riesgo y tus objetivos de inversión.</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No todas las acciones otorgan exactamente los mismos derechos. Además, no todos los inversionistas toleran el riesgo de la misma manera. Por eso, antes de invertir debes conocer el instrumento y conocerte como inversionista.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Abrir la cápsula 4 y vincular derechos con decisión de inversión.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P26</a:t>
            </a:r>
            <a:endParaRPr lang="en-US" sz="6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P27 · Derechos políticos y económicos</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4</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L03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OA4</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Distinguir derechos políticos y económicos.</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Derechos políticos: participación y voto cuando aplica. Derechos económicos: dividendos y beneficios patrimoniales cuando se generan y aprueban.</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Los derechos políticos se relacionan con participar en decisiones, como votar en asamblea cuando el tipo de acción lo permite. Los derechos económicos se relacionan con recibir dividendos u otros beneficios patrimoniales cuando correspondan.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simple con jerarquía: concepto principal, 2–4 bloques y nota educativa. No depender solo de color.</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P27</a:t>
            </a:r>
            <a:endParaRPr lang="en-US" sz="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P28 · Ordinarias frente a preferenciales</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4</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L05 / ninguno / I08</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OA4</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0:16 + int. 0:35 = total 0:51</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Comparar acciones ordinarias y preferenciales.</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Ordinarias: suelen incluir voto y participación en dividendos. Preferenciales: suelen priorizar derechos económicos y limitar el voto. Ambas pueden comprarse y venderse en el mercado si están listadas.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Las acciones ordinarias suelen dar voto y derechos económicos. Las preferenciales suelen fortalecer el derecho económico, por ejemplo con prioridad o dividendo mínimo, a cambio de limitar el voto. La decisión depende de lo que valores como inversionista. [0:16]</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I08 | Columnas: Acciones ordinarias / Acciones preferenciales | Filas: Voto: normalmente sí / normalmente no; Dividendos: proporcionales / preferencia económica; Prioridad en liquidación: menor / mayor después de acreedores; Enfoque: participación / ingreso preferente</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P28</a:t>
            </a:r>
            <a:endParaRPr lang="en-US" sz="6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P29 · Los tres perfiles de riesgo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4</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L05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OA5</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Presentar tres perfiles orientativos de riesgo.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Conservador: prioriza preservar capital y liquidez. Moderado: acepta fluctuaciones razonables y diversifica. Agresivo: tolera mayor volatilidad por potencial de retorno. Nota: es un perfil orientativo, no regulatorio.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El perfil de riesgo no es una etiqueta fija. Es una guía para alinear decisiones con tu tolerancia a pérdidas, horizonte de inversión, necesidad de liquidez y objetivos. Conocerlo ayuda a evitar decisiones impulsivas.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simple con jerarquía: concepto principal, 2–4 bloques y nota educativa. No depender solo de color.</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P29</a:t>
            </a:r>
            <a:endParaRPr lang="en-US" sz="6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P30 · ¿Cuál es tu perfil?</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4</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L06 / ninguno / I13</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OA5</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1:10 = total 1:24</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Capturar el perfil de riesgo orientativo del estudiante.</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Responde cuatro preguntas. El resultado se usará luego para retroalimentar decisiones de portafolio.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Completa este perfilamiento inicial. No sustituye asesoría profesional ni el perfilamiento formal de una entidad autorizada, pero te ayuda a pensar en cuatro variables: horizonte, reacción ante pérdidas, objetivo y necesidad de liquidez.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genera perfil_riesgo = conservador | moderado | agresivo</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 "tipo": "I13 Test de perfil con resultado", "variable": "perfil_riesgo", "preguntas": [ { "q": "Si tu inversión baja 10% en un mes, ¿qué harías?", "opciones": [ { "t": "Vender para evitar más pérdida", "p": 1 }, { "t": "Revisar y esperar si el objetivo sigue vigente", "p": 2 }, { "t": "Comprar más si el análisis lo justifica", "p": 3 } ] }, { "q": "¿Cuál es tu horizonte principal?", "opciones": [ { "t": "Menos de un año", "p": 1 }, { "t": "Entre uno y tres años", "p": 2 }, { "t": "Más de tres años", "p": 3 } ] }, { "q": "¿Qué tan importante es tener liquidez inmediata?", "opciones": [ { "t": "Muy importante", "p": 1 }, { "t": "Medianamente importante", "p": 2 }, { "t": "Poco importante para este capital", "p": 3 } ] }, { "q": "¿Qué prefieres al invertir?", "opciones": [ { "t": "Preservar capital", "p": 1 }, { "t": "Equilibrar riesgo y retorno", "p": 2 }, { "t": "Buscar mayor retorno aceptando volatilidad", "p": 3 } ] } ], "formula": "Suma de puntos. 4–6 conservador; 7–9 moderado; 10–12 agresivo.", "perfiles": { "conservador": "Prioriza preservar capital y reducir pérdidas; debe cuidar concentración y liquidez.", "moderado": "Acepta fluctuaciones razonables y busca equilibrio entre crecimiento y control de riesgo.", "agresivo": "Tolera mayor volatilidad por potencial de retorno, pero necesita análisis y límites de concentración." }, "aviso": "Resultado orientativo y educativo; no reemplaza el perfilamiento formal de un intermediario." }</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P30</a:t>
            </a:r>
            <a:endParaRPr lang="en-US" sz="6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P31 · Tu resultado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Cápsula 4</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L08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OA5</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Mostrar el resultado del perfil y guardar variable pedagógica.</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Conservador: prioriza estabilidad y liquidez. Moderado: busca equilibrio entre riesgo y retorno. Agresivo: acepta volatilidad alta por mayor retorno potencial. Este resultado es orientativo y no reemplaza asesoría profesional.</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Tu resultado resume tu tolerancia inicial al riesgo. Úsalo como punto de partida, no como sentencia. En inversiones reales, tu perfil debe confirmarse con una entidad autorizada y actualizarse si cambian tus objetivos o circunstancias.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Mostrar el resultado del perfil y guardar variable pedagógica.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lee perfil_riesgo de P30</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P31</a:t>
            </a:r>
            <a:endParaRPr lang="en-US" sz="6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P32 · Ideas clave de la unidad</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Cierre</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L09 / ninguno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síntesis</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0:16 + int. 0:00 = total 0:16</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Consolidar ideas clave de la unidad.</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1. Las acciones pertenecen a la renta variable. 2. Una acción representa propiedad fraccionada. 3. El retorno puede venir de precio y dividendos. 4. Ordinarias y preferenciales otorgan derechos distintos. 5. Invertir exige objetivos, información y perfil de riesgo.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Recuerda estas cinco ideas. Las acciones no garantizan ganancias. Te hacen dueño de una fracción de una empresa. Puedes ganar por valorización y dividendos, pero también perder. Por eso debes invertir con información, objetivos y perfil claro. [0:16]</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lectura lineal sin dependencia visual.</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P32</a:t>
            </a:r>
            <a:endParaRPr lang="en-US" sz="6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P33 · Las tres bolsas de nuam</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Cierre</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L02 / infografía: mapa simple con tres países, una bolsa por país y dos etiquetas: supervisor y depósito de valores.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NUEVO+VERIFICADO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0:36 + int. 0:00 = total 0:36</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 SRC-NUAM, SRC-SFC, SRC-SFC-BVC, SRC-SFC-DECEVAL, SRC-SMV, SRC-BVL-CAVALI, SRC-CMF-ACCIONES, SRC-CMF-DCV</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Demostrar el enfoque regional de nuam con bolsas, supervisores y depósitos.</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Colombia: Bolsa de Valores de Colombia | Supervisor: SFC | Depósito: Deceval. Perú: Bolsa de Valores de Lima | Supervisor: SMV | Depósito: CAVALI. Chile: Bolsa de Santiago | Supervisor: CMF | Depósito: DCV.</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nuam conecta tres plazas del mercado de capitales: Colombia, Perú y Chile. En Colombia, la bolsa es la Bolsa de Valores de Colombia, el supervisor es la Superintendencia Financiera de Colombia y el depósito es Deceval. En Perú, la bolsa es la Bolsa de Valores de Lima, el supervisor es la Superintendencia del Mercado de Valores y el depósito es CAVALI. En Chile, la bolsa es la Bolsa de Santiago, el supervisor es la Comisión para el Mercado Financiero y el depósito es el DCV. [0:36]</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Recurso audiovisual por definir según producción.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lectura lineal sin dependencia visual.</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P33</a:t>
            </a:r>
            <a:endParaRPr lang="en-US" sz="6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P34 · Recursos para llevarte</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Cierre</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L11 / ninguno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Presentar los recursos descargables útiles después del curso.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1. Calculadora de valorización y dividendos: practicar fórmulas. 2. Checklist antes de tu primera orden: evitar omisiones. 3. Hoja de perfil y objetivos: ordenar decisiones. 4. Glosario de los tres mercados: entender términos por país.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Además del contenido de la unidad, tendrás cuatro herramientas para usar después. No son copias del curso. Son apoyos prácticos para calcular, verificar, definir objetivos y entender el lenguaje básico de los tres mercados.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lectura lineal sin dependencia visual.</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P34</a:t>
            </a:r>
            <a:endParaRPr lang="en-US" sz="6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P35 · Qué sigue después de esta unidad</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1 / Cierre</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L10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navegación</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SRC-GUION-U1</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Cerrar la unidad y anticipar la siguiente.</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En la siguiente unidad profundizarás en conceptos del mercado bursátil: mercado primario y secundario, operaciones de contado, repos, transferencia temporal de valores y actores del ecosistema. Botón: Ir a la Unidad 2</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Ya tienes la base. En adelante podrás estudiar cómo se ejecutan operaciones, quiénes participan en el mercado y qué debes verificar antes de enviar una orden. El siguiente paso es pasar del concepto a la operación.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Cerrar la unidad y anticipar la siguiente.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P35</a:t>
            </a:r>
            <a:endParaRPr lang="en-US" sz="6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P36 · Vista previa Unidad 2: Anatomía de un Repo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2 / Pieza insignia Repo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L13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0:17 + int. 0:00 = total 0:17</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Introducir la pieza insignia sobre repo.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Objetivo: convertir una explicación densa en una línea de tiempo recorrible de tres momentos: inicio, plazo y regreso.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Esta pieza funciona como una vista previa de la unidad dos. Un repo puede entenderse como una venta de acciones con pacto de recompra. La interacción mostrará qué cambia de manos al inicio, durante el plazo y al cierre. [0:17]</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Introducir la pieza insignia sobre repo.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P36</a:t>
            </a:r>
            <a:endParaRPr lang="en-US" sz="6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P37 · Repo paso a paso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2 / Pieza insignia Repo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L06 / motion / I09</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1:10 = total 1:24</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Visualizar la mecánica de repo como línea de tiempo.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Recorre la operación y mira qué entrega cada parte en cada momento.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En un repo, una parte necesita liquidez y entrega acciones. La otra entrega dinero. Ambas acuerdan que las acciones serán recompradas en una fecha posterior, con una suma que incorpora el rendimiento pactado.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MOTION/I09: línea de tiempo con operación inicial, plazo y regreso; flechas de acciones, dinero y rendimiento; aclarar que es conceptual regional.</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 texto alternativo/descripción equivalente; 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 "tipo": "I09 Línea de tiempo recorrible", "estado_inicial": "Inversionista A necesita liquidez y posee acciones. Inversionista B tiene dinero disponible.", "momentos": [ { "id": "M1", "titulo": "Operación inicial", "descripcion": "A entrega acciones y B entrega dinero.", "cambia": "acciones de A a B; dinero de B a A", "resultado": "A obtiene liquidez; B recibe acciones bajo pacto." }, { "id": "M2", "titulo": "Durante el plazo", "descripcion": "Las acciones quedan inmovilizadas bajo condiciones pactadas.", "cambia": "no hay nueva entrega; se mantiene obligación de regreso", "resultado": "Las partes esperan vencimiento." }, { "id": "M3", "titulo": "Operación de regreso", "descripcion": "A recompra y B recibe dinero más rendimiento pactado.", "cambia": "acciones vuelven a A; dinero+rendimento va a B", "resultado": "La operación se cierra." } ], "estado_final": "Las acciones retornan al vendedor inicial y el comprador recibe el pago acordado.", "retro": "El rasgo esencial es el pacto de recompra, no la venta definitiva." }</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P37</a:t>
            </a:r>
            <a:endParaRPr lang="en-US" sz="6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P38 · Comprobación Repo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2 / Pieza insignia Repo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L07 / ninguno / I02</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0:12 + int. 0:25 = total 0:37</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Comprobar el rasgo esencial del repo.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En un repo, las acciones se entregan con un pacto de recompra futura.</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Verifica la idea esencial del repo. No es una venta definitiva de acciones. Su rasgo clave es el acuerdo de recompra en una fecha y condiciones previamente establecidas. [0:12]</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I02 | Afirmación: En un repo, las acciones se entregan con un pacto de recompra futura. | Respuesta: Verdadero | Retro correcta: Correcto. El pacto de recompra diferencia el repo de una venta definitiva. | Retro incorrecta: Revisa la secuencia: entrega inicial y recompra pactada al regreso.</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P38</a:t>
            </a:r>
            <a:endParaRPr lang="en-US" sz="6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P39 · Cierre pieza Repo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2 / Pieza insignia Repo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L09 / ninguno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0:13 + int. 0:00 = total 0:13</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Cerrar la pieza de repo con recordación.</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1. El repo busca liquidez. 2. Las acciones sirven como activo de respaldo. 3. Hay operación inicial y de regreso. 4. El precio de regreso incorpora el rendimiento acordado.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Para recordar un repo, piensa en liquidez temporal respaldada por acciones. Lo importante es no confundirlo con una venta definitiva: existe un compromiso de regreso y condiciones pactadas entre las partes. [0:13]</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lectura lineal sin dependencia visual.</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P39</a:t>
            </a:r>
            <a:endParaRPr lang="en-US" sz="6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P40 · Vista previa Unidad 3: Tu primera orden</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3 / Pieza insignia Orden</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L13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0:14 + int. 0:00 = total 0:14</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SRC-GUION-U3</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Introducir la pieza insignia de primera orden.</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Objetivo: practicar la diferencia entre orden a mercado y orden límite antes de enviar una instrucción real.</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 tercera unidad debe llevar al estudiante de la teoría a la acción. Esta vista previa propone una boleta simulada para entender qué ocurre cuando eliges precio de mercado o precio límite. [0:14]</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Introducir la pieza insignia de primera orden.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P40</a:t>
            </a:r>
            <a:endParaRPr lang="en-US" sz="6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P41 · Mercado vs límite</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3 / Pieza insignia Orden</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L03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SRC-GUION-U3</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Diferenciar orden a mercado y orden límite.</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Orden a mercado: busca ejecución rápida al mejor precio disponible. Orden límite: fija el precio máximo de compra o mínimo de venta; puede no ejecutarse.</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Una orden a mercado prioriza la ejecución, aunque el precio final puede variar. Una orden límite prioriza el precio definido por ti, pero puede quedar expuesta si el mercado no llega a ese valor.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simple con jerarquía: concepto principal, 2–4 bloques y nota educativa. No depender solo de color.</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P41</a:t>
            </a:r>
            <a:endParaRPr lang="en-US" sz="6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P42 · Simula tu primera orden</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3 / Pieza insignia Orden</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L06 / ninguno / I11</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1:20 = total 1:35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SRC-GUION-U3</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Simular una boleta de orden con resultado determinístico.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Completa la boleta y observa el resultado: ejecutada o expuesta.</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Ahora toma una decisión. El emisor será Banco del Sur. El precio actual es mil doscientos. Si compras a mercado, la orden se ejecuta según disponibilidad. Si compras con límite menor al precio actual, queda esperando.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 "tipo": "I11 Formulario de decisión", "escenario": { "emisor": "Banco del Sur", "precio_actual": 1200, "saldo": 10000, "titulos_disponibles": 8, "hora_mercado": "mercado abierto" }, "campos": [ "operación comprar/vender", "tipo mercado/límite", "cantidad", "precio límite si aplica", "vigencia si aplica" ], "tabla_verdad": [ [ "Comprar", "Mercado", "saldo suficiente", "Ejecutada", "Compra al precio disponible estimado." ], [ "Comprar", "Mercado", "saldo insuficiente", "Rechazada", "No hay saldo suficiente para cantidad y costos." ], [ "Comprar", "Límite &gt;= precio actual", "saldo suficiente", "Ejecutada", "El límite permite ejecutar al precio actual o mejor." ], [ "Comprar", "Límite &lt; precio actual", "saldo suficiente", "Expuesta", "Queda vigente hasta que el precio baje al límite o venza." ], [ "Vender", "Mercado", "títulos suficientes", "Ejecutada", "Vende al precio disponible estimado." ], [ "Vender", "Mercado", "títulos insuficientes", "Rechazada", "No posees la cantidad indicada." ], [ "Vender", "Límite &lt;= precio actual", "títulos suficientes", "Ejecutada", "El límite permite vender al precio actual o mejor." ], [ "Vender", "Límite &gt; precio actual", "títulos suficientes", "Expuesta", "Queda vigente hasta que el precio suba al límite o venza." ] ], "casos_prueba": [ "Comprar mercado 5 acciones: ejecutada", "Comprar límite $1.100: expuesta", "Vender 20 acciones: rechazada" ] }</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P42</a:t>
            </a:r>
            <a:endParaRPr lang="en-US" sz="6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P43 · Resultado de la orden</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3 / Pieza insignia Orden</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L08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OA6</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0:13 + int. 0:00 = total 0:13</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 SRC-GUION-U3</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Explicar los posibles resultados de una orden.</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Ejecutada: tu instrucción encontró condiciones de mercado. Expuesta: queda vigente hasta que el precio llegue o venza. Rechazada: faltan datos o no hay saldo/títulos suficientes.</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El resultado de una orden depende de sus condiciones. Lo importante es revisar cantidad, precio, vigencia, costos y saldo antes de confirmar. En la vida real, una orden confirmada tiene trazabilidad. [0:13]</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Explicar los posibles resultados de una orden.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P43</a:t>
            </a:r>
            <a:endParaRPr lang="en-US" sz="6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P44 · Vista previa Unidad 5: Arma tu portafolio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5 / Pieza insignia Portafolio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L13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OA5</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Introducir la pieza insignia de portafolio.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Objetivo: repartir capital entre tres emisores ficticios y recibir retroalimentación según el perfil obtenido en P30.</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 quinta unidad debe cerrar con práctica. Esta pieza permite repartir capital entre tres emisores ficticios. La retroalimentación usará el perfil obtenido antes para sugerir si la distribución es coherente con tu tolerancia al riesgo.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Introducir la pieza insignia de portafolio.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P44</a:t>
            </a:r>
            <a:endParaRPr lang="en-US" sz="6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P45 · Tres emisores ficticios</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5 / Pieza insignia Portafolio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L03 / infografía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OA5</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0:15 + int. 0:00 = total 0:15</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Presentar los emisores ficticios para práctica sin recomendación.</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Petrocaribe: alto riesgo, sensible a precios de energía. Andina Cementos: riesgo medio, ligado a infraestructura y construcción. Banco del Sur: riesgo medio-bajo, negocio financiero diversificado.</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El ejercicio usa emisores ficticios para evitar recomendaciones reales. Cada uno tiene un perfil de riesgo distinto. El reto no es adivinar el ganador, sino construir una distribución consistente con objetivos y tolerancia al riesgo. [0:15]</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Infografía de tres emisores ficticios con sector, perfil de riesgo y uso didáctico. No usar logos reales ni sugerir recomendación.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texto alternativo/descripción equivalente.</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P45</a:t>
            </a:r>
            <a:endParaRPr lang="en-US" sz="6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P46 · Distribuye $10.000</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5 / Pieza insignia Portafolio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L06 / ninguno / I12</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OA5</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0:13 + int. 1:30 = total 1:43</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Aplicar perfil de riesgo a una distribución de capital.</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Asigna porcentajes a Petrocaribe, Andina Cementos y Banco del Sur. La suma debe ser 100%.</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Reparte diez mil entre tres emisores. Si concentras demasiado en el activo de mayor riesgo, la herramienta lo señalará. Si diversificas de forma equilibrada, la retroalimentación será distinta según tu perfil. [0:13]</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No requiere recurso audiovisual. Mantener foco en texto, interacción o retroalimentación.</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navegable por teclado; retroalimentación disponible para lector de pantalla.</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lee perfil_riesgo de P30/I13</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 "tipo": "I12 Distribución de capital", "capital": "$10.000", "activos": [ { "emisor": "Petrocaribe", "riesgo": "alto" }, { "emisor": "Andina Cementos", "riesgo": "medio" }, { "emisor": "Banco del Sur", "riesgo": "medio-bajo" } ], "reglas": [ "La suma debe ser 100%", "concentración alta si un emisor supera 60%", "exposición alta si Petrocaribe supera 40%" ], "matriz_retro": [ [ "conservador", "Petrocaribe &gt; 40%", "La distribución luce agresiva para un perfil conservador; revisa concentración y pérdida tolerable." ], [ "conservador", "Banco del Sur &gt;= 50% y ninguno &gt;60%", "La distribución es más coherente con preservación relativa, aunque sigue expuesta a renta variable." ], [ "moderado", "ninguno &gt;60%", "La distribución muestra diversificación básica compatible con un perfil moderado." ], [ "moderado", "un emisor &gt;60%", "Revisa concentración; un perfil moderado suele buscar equilibrio." ], [ "agresivo", "Petrocaribe 30–60%", "La exposición a riesgo alto puede ser coherente, siempre que haya análisis y límites." ], [ "agresivo", "Petrocaribe &gt;60%", "Alta concentración: incluso un perfil agresivo debería justificar y monitorear ese riesgo." ] ], "aviso": "No constituye recomendación de inversión." }</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P46</a:t>
            </a:r>
            <a:endParaRPr lang="en-US" sz="6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12191695" cy="566928"/>
          </a:xfrm>
          <a:prstGeom prst="rect">
            <a:avLst/>
          </a:prstGeom>
          <a:solidFill>
            <a:srgbClr val="1F4E79"/>
          </a:solidFill>
          <a:ln>
            <a:solidFill>
              <a:srgbClr val="1F4E79"/>
            </a:solidFill>
          </a:ln>
        </p:spPr>
        <p:txBody>
          <a:bodyPr wrap="square" rtlCol="0" anchor="ctr">
            <a:normAutofit/>
          </a:bodyPr>
          <a:lstStyle/>
          <a:p>
            <a:pPr indent="0" marL="0">
              <a:buNone/>
            </a:pPr>
            <a:r>
              <a:rPr lang="en-US" sz="1400" b="1" dirty="0">
                <a:solidFill>
                  <a:srgbClr val="FFFFFF"/>
                </a:solidFill>
              </a:rPr>
              <a:t>P47 · Retro de portafolio</a:t>
            </a:r>
            <a:endParaRPr lang="en-US" sz="1400" dirty="0"/>
          </a:p>
        </p:txBody>
      </p:sp>
      <p:sp>
        <p:nvSpPr>
          <p:cNvPr id="3" name="Text 1"/>
          <p:cNvSpPr/>
          <p:nvPr/>
        </p:nvSpPr>
        <p:spPr>
          <a:xfrm>
            <a:off x="8412480" y="173736"/>
            <a:ext cx="2331720" cy="182880"/>
          </a:xfrm>
          <a:prstGeom prst="rect">
            <a:avLst/>
          </a:prstGeom>
          <a:noFill/>
          <a:ln/>
        </p:spPr>
        <p:txBody>
          <a:bodyPr wrap="square" lIns="0" tIns="0" rIns="0" bIns="0" rtlCol="0" anchor="ctr">
            <a:normAutofit/>
          </a:bodyPr>
          <a:lstStyle/>
          <a:p>
            <a:pPr algn="r" indent="0" marL="0">
              <a:buNone/>
            </a:pPr>
            <a:r>
              <a:rPr lang="en-US" sz="850" dirty="0">
                <a:solidFill>
                  <a:srgbClr val="FFFFFF"/>
                </a:solidFill>
              </a:rPr>
              <a:t>Unidad 5 / Pieza insignia Portafolio</a:t>
            </a:r>
            <a:endParaRPr lang="en-US" sz="850" dirty="0"/>
          </a:p>
        </p:txBody>
      </p:sp>
      <p:sp>
        <p:nvSpPr>
          <p:cNvPr id="4" name="Text 2"/>
          <p:cNvSpPr/>
          <p:nvPr/>
        </p:nvSpPr>
        <p:spPr>
          <a:xfrm>
            <a:off x="10881360" y="173736"/>
            <a:ext cx="1051560" cy="182880"/>
          </a:xfrm>
          <a:prstGeom prst="rect">
            <a:avLst/>
          </a:prstGeom>
          <a:noFill/>
          <a:ln/>
        </p:spPr>
        <p:txBody>
          <a:bodyPr wrap="square" lIns="0" tIns="0" rIns="0" bIns="0" rtlCol="0" anchor="ctr">
            <a:normAutofit/>
          </a:bodyPr>
          <a:lstStyle/>
          <a:p>
            <a:pPr algn="r" indent="0" marL="0">
              <a:buNone/>
            </a:pPr>
            <a:r>
              <a:rPr lang="en-US" sz="720" dirty="0">
                <a:solidFill>
                  <a:srgbClr val="FFFFFF"/>
                </a:solidFill>
              </a:rPr>
              <a:t>L08 / avatar / ninguna</a:t>
            </a:r>
            <a:endParaRPr lang="en-US" sz="720" dirty="0"/>
          </a:p>
        </p:txBody>
      </p:sp>
      <p:sp>
        <p:nvSpPr>
          <p:cNvPr id="5" name="Text 3"/>
          <p:cNvSpPr/>
          <p:nvPr/>
        </p:nvSpPr>
        <p:spPr>
          <a:xfrm>
            <a:off x="228600" y="694944"/>
            <a:ext cx="1463040" cy="256032"/>
          </a:xfrm>
          <a:prstGeom prst="rect">
            <a:avLst/>
          </a:prstGeom>
          <a:solidFill>
            <a:srgbClr val="D9EAF7"/>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Objetivo: OA5</a:t>
            </a:r>
            <a:endParaRPr lang="en-US" sz="730" dirty="0"/>
          </a:p>
        </p:txBody>
      </p:sp>
      <p:sp>
        <p:nvSpPr>
          <p:cNvPr id="6" name="Text 4"/>
          <p:cNvSpPr/>
          <p:nvPr/>
        </p:nvSpPr>
        <p:spPr>
          <a:xfrm>
            <a:off x="1783080" y="694944"/>
            <a:ext cx="1828800" cy="256032"/>
          </a:xfrm>
          <a:prstGeom prst="rect">
            <a:avLst/>
          </a:prstGeom>
          <a:solidFill>
            <a:srgbClr val="FFF2CC"/>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Origen: NUEVO+ADAPTADO</a:t>
            </a:r>
            <a:endParaRPr lang="en-US" sz="730" dirty="0"/>
          </a:p>
        </p:txBody>
      </p:sp>
      <p:sp>
        <p:nvSpPr>
          <p:cNvPr id="7" name="Text 5"/>
          <p:cNvSpPr/>
          <p:nvPr/>
        </p:nvSpPr>
        <p:spPr>
          <a:xfrm>
            <a:off x="3703320" y="694944"/>
            <a:ext cx="2834640" cy="256032"/>
          </a:xfrm>
          <a:prstGeom prst="rect">
            <a:avLst/>
          </a:prstGeom>
          <a:solidFill>
            <a:srgbClr val="E2F0D9"/>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Duración: 0:13 + int. 0:00 = total 0:13</a:t>
            </a:r>
            <a:endParaRPr lang="en-US" sz="730" dirty="0"/>
          </a:p>
        </p:txBody>
      </p:sp>
      <p:sp>
        <p:nvSpPr>
          <p:cNvPr id="8" name="Text 6"/>
          <p:cNvSpPr/>
          <p:nvPr/>
        </p:nvSpPr>
        <p:spPr>
          <a:xfrm>
            <a:off x="6629400" y="694944"/>
            <a:ext cx="5257800" cy="256032"/>
          </a:xfrm>
          <a:prstGeom prst="rect">
            <a:avLst/>
          </a:prstGeom>
          <a:solidFill>
            <a:srgbClr val="FFFFFF"/>
          </a:solidFill>
          <a:ln w="5080">
            <a:solidFill>
              <a:srgbClr val="CBD5E1"/>
            </a:solidFill>
          </a:ln>
        </p:spPr>
        <p:txBody>
          <a:bodyPr wrap="square" lIns="254" tIns="254" rIns="254" bIns="254" rtlCol="0" anchor="ctr">
            <a:normAutofit/>
          </a:bodyPr>
          <a:lstStyle/>
          <a:p>
            <a:pPr algn="ctr" indent="0" marL="0">
              <a:buNone/>
            </a:pPr>
            <a:r>
              <a:rPr lang="en-US" sz="730" b="1" dirty="0">
                <a:solidFill>
                  <a:srgbClr val="111827"/>
                </a:solidFill>
              </a:rPr>
              <a:t>Fuentes: SRC-BRIEF-V2</a:t>
            </a:r>
            <a:endParaRPr lang="en-US" sz="730" dirty="0"/>
          </a:p>
        </p:txBody>
      </p:sp>
      <p:sp>
        <p:nvSpPr>
          <p:cNvPr id="9" name="Text 7"/>
          <p:cNvSpPr/>
          <p:nvPr/>
        </p:nvSpPr>
        <p:spPr>
          <a:xfrm>
            <a:off x="228600" y="1060704"/>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PROPÓSITO</a:t>
            </a:r>
            <a:endParaRPr lang="en-US" sz="750" dirty="0"/>
          </a:p>
          <a:p>
            <a:pPr indent="0" marL="0">
              <a:buNone/>
            </a:pPr>
            <a:r>
              <a:rPr lang="en-US" sz="750" dirty="0">
                <a:solidFill>
                  <a:srgbClr val="111827"/>
                </a:solidFill>
              </a:rPr>
              <a:t>Cerrar con retroalimentación no prescriptiva sobre portafolio.</a:t>
            </a:r>
            <a:endParaRPr lang="en-US" sz="750" dirty="0"/>
          </a:p>
        </p:txBody>
      </p:sp>
      <p:sp>
        <p:nvSpPr>
          <p:cNvPr id="10" name="Text 8"/>
          <p:cNvSpPr/>
          <p:nvPr/>
        </p:nvSpPr>
        <p:spPr>
          <a:xfrm>
            <a:off x="3154680" y="1060704"/>
            <a:ext cx="420624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TEXTO EN PANTALLA</a:t>
            </a:r>
            <a:endParaRPr lang="en-US" sz="750" dirty="0"/>
          </a:p>
          <a:p>
            <a:pPr indent="0" marL="0">
              <a:buNone/>
            </a:pPr>
            <a:r>
              <a:rPr lang="en-US" sz="750" dirty="0">
                <a:solidFill>
                  <a:srgbClr val="111827"/>
                </a:solidFill>
              </a:rPr>
              <a:t>Conservador: cuida concentración y liquidez. Moderado: busca equilibrio y diversificación. Agresivo: tolera más volatilidad, pero no ignora concentración. Ninguna retro equivale a recomendación de inversión.</a:t>
            </a:r>
            <a:endParaRPr lang="en-US" sz="750" dirty="0"/>
          </a:p>
        </p:txBody>
      </p:sp>
      <p:sp>
        <p:nvSpPr>
          <p:cNvPr id="11" name="Text 9"/>
          <p:cNvSpPr/>
          <p:nvPr/>
        </p:nvSpPr>
        <p:spPr>
          <a:xfrm>
            <a:off x="7543800" y="1060704"/>
            <a:ext cx="4416552"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LOCUCIÓN</a:t>
            </a:r>
            <a:endParaRPr lang="en-US" sz="750" dirty="0"/>
          </a:p>
          <a:p>
            <a:pPr indent="0" marL="0">
              <a:buNone/>
            </a:pPr>
            <a:r>
              <a:rPr lang="en-US" sz="750" dirty="0">
                <a:solidFill>
                  <a:srgbClr val="111827"/>
                </a:solidFill>
              </a:rPr>
              <a:t>La retroalimentación del portafolio debe educar, no recomendar. El estudiante aprende a revisar coherencia entre perfil y asignación. En inversiones reales se requiere información adicional, costos, horizonte, asesoría y reglas aplicables. [0:13]</a:t>
            </a:r>
            <a:endParaRPr lang="en-US" sz="750" dirty="0"/>
          </a:p>
        </p:txBody>
      </p:sp>
      <p:sp>
        <p:nvSpPr>
          <p:cNvPr id="12" name="Text 10"/>
          <p:cNvSpPr/>
          <p:nvPr/>
        </p:nvSpPr>
        <p:spPr>
          <a:xfrm>
            <a:off x="228600" y="1883664"/>
            <a:ext cx="2743200" cy="105156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BRIEF AUDIOVISUAL</a:t>
            </a:r>
            <a:endParaRPr lang="en-US" sz="750" dirty="0"/>
          </a:p>
          <a:p>
            <a:pPr indent="0" marL="0">
              <a:buNone/>
            </a:pPr>
            <a:r>
              <a:rPr lang="en-US" sz="750" dirty="0">
                <a:solidFill>
                  <a:srgbClr val="111827"/>
                </a:solidFill>
              </a:rPr>
              <a:t>Avatar en plano medio, tono claro y prudente. Función: Cerrar con retroalimentación no prescriptiva sobre portafolio. Locución sincronizada con subtítulos completos.</a:t>
            </a:r>
            <a:endParaRPr lang="en-US" sz="750" dirty="0"/>
          </a:p>
        </p:txBody>
      </p:sp>
      <p:sp>
        <p:nvSpPr>
          <p:cNvPr id="13" name="Text 11"/>
          <p:cNvSpPr/>
          <p:nvPr/>
        </p:nvSpPr>
        <p:spPr>
          <a:xfrm>
            <a:off x="228600" y="3090672"/>
            <a:ext cx="2743200" cy="6583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ACCESIBILIDAD</a:t>
            </a:r>
            <a:endParaRPr lang="en-US" sz="750" dirty="0"/>
          </a:p>
          <a:p>
            <a:pPr indent="0" marL="0">
              <a:buNone/>
            </a:pPr>
            <a:r>
              <a:rPr lang="en-US" sz="750" dirty="0">
                <a:solidFill>
                  <a:srgbClr val="111827"/>
                </a:solidFill>
              </a:rPr>
              <a:t>subtítulos y transcripción.</a:t>
            </a:r>
            <a:endParaRPr lang="en-US" sz="750" dirty="0"/>
          </a:p>
        </p:txBody>
      </p:sp>
      <p:sp>
        <p:nvSpPr>
          <p:cNvPr id="14" name="Text 12"/>
          <p:cNvSpPr/>
          <p:nvPr/>
        </p:nvSpPr>
        <p:spPr>
          <a:xfrm>
            <a:off x="228600" y="3913632"/>
            <a:ext cx="2743200" cy="56692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DEPENDENCIAS / VARIABLES</a:t>
            </a:r>
            <a:endParaRPr lang="en-US" sz="750" dirty="0"/>
          </a:p>
          <a:p>
            <a:pPr indent="0" marL="0">
              <a:buNone/>
            </a:pPr>
            <a:r>
              <a:rPr lang="en-US" sz="750" dirty="0">
                <a:solidFill>
                  <a:srgbClr val="111827"/>
                </a:solidFill>
              </a:rPr>
              <a:t>Ninguna.</a:t>
            </a:r>
            <a:endParaRPr lang="en-US" sz="750" dirty="0"/>
          </a:p>
        </p:txBody>
      </p:sp>
      <p:sp>
        <p:nvSpPr>
          <p:cNvPr id="15" name="Text 13"/>
          <p:cNvSpPr/>
          <p:nvPr/>
        </p:nvSpPr>
        <p:spPr>
          <a:xfrm>
            <a:off x="228600" y="4645152"/>
            <a:ext cx="2743200" cy="1234440"/>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NOTAS DESARROLLO</a:t>
            </a:r>
            <a:endParaRPr lang="en-US" sz="750" dirty="0"/>
          </a:p>
          <a:p>
            <a:pPr indent="0" marL="0">
              <a:buNone/>
            </a:pPr>
            <a:r>
              <a:rPr lang="en-US" sz="750" dirty="0">
                <a:solidFill>
                  <a:srgbClr val="111827"/>
                </a:solidFill>
              </a:rPr>
              <a:t>Respetar presupuesto del layout. Mantener trazabilidad con Storyboard_Master_v2.md. No convertir ejemplos ficticios en recomendación de inversión.</a:t>
            </a:r>
            <a:endParaRPr lang="en-US" sz="750" dirty="0"/>
          </a:p>
        </p:txBody>
      </p:sp>
      <p:sp>
        <p:nvSpPr>
          <p:cNvPr id="16" name="Text 14"/>
          <p:cNvSpPr/>
          <p:nvPr/>
        </p:nvSpPr>
        <p:spPr>
          <a:xfrm>
            <a:off x="3154680" y="2487168"/>
            <a:ext cx="8805672" cy="3401568"/>
          </a:xfrm>
          <a:prstGeom prst="rect">
            <a:avLst/>
          </a:prstGeom>
          <a:solidFill>
            <a:srgbClr val="FFFFFF"/>
          </a:solidFill>
          <a:ln w="6350">
            <a:solidFill>
              <a:srgbClr val="CBD5E1"/>
            </a:solidFill>
          </a:ln>
        </p:spPr>
        <p:txBody>
          <a:bodyPr wrap="square" rtlCol="0" anchor="t">
            <a:normAutofit/>
          </a:bodyPr>
          <a:lstStyle/>
          <a:p>
            <a:pPr indent="0" marL="0">
              <a:buNone/>
            </a:pPr>
            <a:r>
              <a:rPr lang="en-US" sz="750" dirty="0">
                <a:solidFill>
                  <a:srgbClr val="111827"/>
                </a:solidFill>
              </a:rPr>
              <a:t>PAYLOAD DE INTERACCIÓN</a:t>
            </a:r>
            <a:endParaRPr lang="en-US" sz="750" dirty="0"/>
          </a:p>
          <a:p>
            <a:pPr indent="0" marL="0">
              <a:buNone/>
            </a:pPr>
            <a:r>
              <a:rPr lang="en-US" sz="750" dirty="0">
                <a:solidFill>
                  <a:srgbClr val="111827"/>
                </a:solidFill>
              </a:rPr>
              <a:t>No aplica.</a:t>
            </a:r>
            <a:endParaRPr lang="en-US" sz="750" dirty="0"/>
          </a:p>
        </p:txBody>
      </p:sp>
      <p:sp>
        <p:nvSpPr>
          <p:cNvPr id="17" name="Text 15"/>
          <p:cNvSpPr/>
          <p:nvPr/>
        </p:nvSpPr>
        <p:spPr>
          <a:xfrm>
            <a:off x="228600" y="6446520"/>
            <a:ext cx="8229600" cy="164592"/>
          </a:xfrm>
          <a:prstGeom prst="rect">
            <a:avLst/>
          </a:prstGeom>
          <a:noFill/>
          <a:ln/>
        </p:spPr>
        <p:txBody>
          <a:bodyPr wrap="square" lIns="0" tIns="0" rIns="0" bIns="0" rtlCol="0" anchor="ctr"/>
          <a:lstStyle/>
          <a:p>
            <a:pPr indent="0" marL="0">
              <a:buNone/>
            </a:pPr>
            <a:r>
              <a:rPr lang="en-US" sz="680" dirty="0">
                <a:solidFill>
                  <a:srgbClr val="475569"/>
                </a:solidFill>
              </a:rPr>
              <a:t>QA: OK · Fuente canónica completa: Storyboard_Master_v2.md</a:t>
            </a:r>
            <a:endParaRPr lang="en-US" sz="680" dirty="0"/>
          </a:p>
        </p:txBody>
      </p:sp>
      <p:sp>
        <p:nvSpPr>
          <p:cNvPr id="18" name="Text 16"/>
          <p:cNvSpPr/>
          <p:nvPr/>
        </p:nvSpPr>
        <p:spPr>
          <a:xfrm>
            <a:off x="11475720" y="6446520"/>
            <a:ext cx="502920" cy="164592"/>
          </a:xfrm>
          <a:prstGeom prst="rect">
            <a:avLst/>
          </a:prstGeom>
          <a:noFill/>
          <a:ln/>
        </p:spPr>
        <p:txBody>
          <a:bodyPr wrap="square" lIns="0" tIns="0" rIns="0" bIns="0" rtlCol="0" anchor="ctr"/>
          <a:lstStyle/>
          <a:p>
            <a:pPr algn="r" indent="0" marL="0">
              <a:buNone/>
            </a:pPr>
            <a:r>
              <a:rPr lang="en-US" sz="680" dirty="0">
                <a:solidFill>
                  <a:srgbClr val="475569"/>
                </a:solidFill>
              </a:rPr>
              <a:t>P47</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nuam demo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inversión en acciones — Storyboard v2</dc:title>
  <dc:subject>PptxGenJS Presentation</dc:subject>
  <dc:creator>OpenAI</dc:creator>
  <cp:lastModifiedBy>OpenAI</cp:lastModifiedBy>
  <cp:revision>1</cp:revision>
  <dcterms:created xsi:type="dcterms:W3CDTF">2026-09-03T19:33:34Z</dcterms:created>
  <dcterms:modified xsi:type="dcterms:W3CDTF">2026-09-03T19:33:34Z</dcterms:modified>
</cp:coreProperties>
</file>